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2481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agent, three live disruption cases from the data pack. The claim I'm making: it resolves inside policy and never invents authority it doesn't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seven map one-to-one onto the brief's bullet list. Each one has a named home in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prohibited list is the spine of the design. Hallucinated generosity is the real failure mode for a customer-facing agent, so policy never touches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seam between layer 2 and layer 3 is the whole design. Intent is fuzzy and the model is good at it; entitlement is exact and code is good 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demoing live: point at the rail filling in, then at the reply appearing after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branches, all traceable to a clause in section 3 or 4 of the data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Arvind is the scenario most agents get wrong — they either invent a hotel or escalate a decision they were allowed to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Meher is the scenario with two independent escalations in one conversation, plus entitlements that stay live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limits slide deliberately — knowing what isn't real is the thing that survives a defence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26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0020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Customer-Facing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Agent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airline disruption desk that decides inside policy, and escalates when it cannot.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572000"/>
            <a:ext cx="3200400" cy="822960"/>
          </a:xfrm>
          <a:prstGeom prst="roundRect">
            <a:avLst>
              <a:gd name="adj" fmla="val 6667"/>
            </a:avLst>
          </a:prstGeom>
          <a:solidFill>
            <a:srgbClr val="1D3A5C"/>
          </a:solidFill>
          <a:ln w="12700">
            <a:solidFill>
              <a:srgbClr val="2E5C8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4709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Tamanna-23csu309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(Data Science), NCU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0" y="4709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AIONOS  ·  Agentic AI Factory</a:t>
            </a:r>
            <a:endParaRPr lang="en-US" sz="1200" dirty="0"/>
          </a:p>
          <a:p>
            <a:pPr marL="0" indent="0" algn="r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 ·  Sep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49640" y="1737360"/>
            <a:ext cx="3063240" cy="530352"/>
          </a:xfrm>
          <a:prstGeom prst="roundRect">
            <a:avLst>
              <a:gd name="adj" fmla="val 8621"/>
            </a:avLst>
          </a:prstGeom>
          <a:solidFill>
            <a:srgbClr val="1D3A5C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0" y="18562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SK-204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18653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→ Goa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716768" y="1929384"/>
            <a:ext cx="146304" cy="146304"/>
          </a:xfrm>
          <a:prstGeom prst="ellipse">
            <a:avLst/>
          </a:prstGeom>
          <a:solidFill>
            <a:srgbClr val="9E3B3B"/>
          </a:solidFill>
          <a:ln w="12700">
            <a:solidFill>
              <a:srgbClr val="9E3B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27080" y="18790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549640" y="2395728"/>
            <a:ext cx="3063240" cy="530352"/>
          </a:xfrm>
          <a:prstGeom prst="roundRect">
            <a:avLst>
              <a:gd name="adj" fmla="val 8621"/>
            </a:avLst>
          </a:prstGeom>
          <a:solidFill>
            <a:srgbClr val="1D3A5C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0" y="2514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SK-118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418320" y="2523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→ Bengaluru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716768" y="2587752"/>
            <a:ext cx="146304" cy="146304"/>
          </a:xfrm>
          <a:prstGeom prst="ellipse">
            <a:avLst/>
          </a:prstGeom>
          <a:solidFill>
            <a:srgbClr val="D98A28"/>
          </a:solidFill>
          <a:ln w="12700">
            <a:solidFill>
              <a:srgbClr val="D98A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27080" y="25374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4h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549640" y="3054096"/>
            <a:ext cx="3063240" cy="530352"/>
          </a:xfrm>
          <a:prstGeom prst="roundRect">
            <a:avLst>
              <a:gd name="adj" fmla="val 8621"/>
            </a:avLst>
          </a:prstGeom>
          <a:solidFill>
            <a:srgbClr val="1D3A5C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0" y="31729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SK-305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→ Hyderabad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716768" y="3246120"/>
            <a:ext cx="146304" cy="146304"/>
          </a:xfrm>
          <a:prstGeom prst="ellipse">
            <a:avLst/>
          </a:prstGeom>
          <a:solidFill>
            <a:srgbClr val="D98A28"/>
          </a:solidFill>
          <a:ln w="12700">
            <a:solidFill>
              <a:srgbClr val="D98A2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27080" y="31958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6h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has to get right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behaviours from the brief, and where each one lives in the build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66944" cy="932688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093976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13512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929384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intent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212848"/>
            <a:ext cx="4443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classifies each message into a fixed request enum — never free-form.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44768" y="1783080"/>
            <a:ext cx="5266944" cy="932688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45936" y="2093976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5936" y="213512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929384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only what's needed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212848"/>
            <a:ext cx="4443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comes from the PNR. The one question asked is the one the rule leaves open.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898648"/>
            <a:ext cx="5266944" cy="932688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209544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" y="325069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044952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supplied data only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328416"/>
            <a:ext cx="4443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bookings and rules are transcribed into one grounding object. No outside facts.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44768" y="2898648"/>
            <a:ext cx="5266944" cy="932688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45936" y="3209544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45936" y="325069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044952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right action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328416"/>
            <a:ext cx="4443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engine maps request + booking state to an entitlement.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014216"/>
            <a:ext cx="5266944" cy="932688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4325112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" y="4366260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160520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anger and confusion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4443984"/>
            <a:ext cx="4443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is read separately from intent, so tone changes and the decision doesn't.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44768" y="4014216"/>
            <a:ext cx="5266944" cy="932688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45936" y="4325112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45936" y="4366260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4160520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on missing authority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4443984"/>
            <a:ext cx="4443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prohibited categories short-circuit the engine into a ticket.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5129784"/>
            <a:ext cx="10936224" cy="932688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" y="5440680"/>
            <a:ext cx="310896" cy="310896"/>
          </a:xfrm>
          <a:prstGeom prst="ellipse">
            <a:avLst/>
          </a:prstGeom>
          <a:solidFill>
            <a:srgbClr val="1F7A66"/>
          </a:solidFill>
          <a:ln w="12700">
            <a:solidFill>
              <a:srgbClr val="1F7A6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8096" y="54818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188720" y="5276088"/>
            <a:ext cx="10113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the record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1188720" y="5559552"/>
            <a:ext cx="10113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message, intent, verdict and rule is timestamped and exportable.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SkyLink Resolution Desk  ·  Assignment 3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Inputs, sources and assumptions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agent knows, and the three things I decided for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66160" cy="4160520"/>
          </a:xfrm>
          <a:prstGeom prst="roundRect">
            <a:avLst>
              <a:gd name="adj" fmla="val 1538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3154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customer profiles — tier, contact, 12-month history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booking rows — PNR, flight, route, status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service rules — cancellation, delay, refund, fare, tier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vs prohibited action list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sample conversations — read for tone only, never as fact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212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 access, no invented flights, no invented amounts.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15968" y="1600200"/>
            <a:ext cx="3566160" cy="4160520"/>
          </a:xfrm>
          <a:prstGeom prst="roundRect">
            <a:avLst>
              <a:gd name="adj" fmla="val 1538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I made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4884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pre-verified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38658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opens from the booking, so the agent doesn't re-ask for the PNR.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04495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bands are exclusive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28269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"More than 5 hours" means 4h gets voucher + lounge, not a hotel.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94106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≠ delay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417880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cancelled flight goes to rebooking or refund, not to the delay compensation table.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83717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isn't escalating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5074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no inside policy is desk work. Only approving beyond policy needs a human.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65008" y="1600200"/>
            <a:ext cx="3529584" cy="4160520"/>
          </a:xfrm>
          <a:prstGeom prst="roundRect">
            <a:avLst>
              <a:gd name="adj" fmla="val 1554"/>
            </a:avLst>
          </a:prstGeom>
          <a:solidFill>
            <a:srgbClr val="12263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grounding rule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240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writes sentences.</a:t>
            </a:r>
            <a:endParaRPr lang="en-US" sz="17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never writes entitlements.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2918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Amounts, rules, eligibility and escalation are computed in JavaScript from the data pack. If the language model is switched off, the agent still reaches exactly the same verdicts — only the wording changes.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5029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what makes it defensible in an interview.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SkyLink Resolution Desk  ·  Assignment 3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layers. Only the first and last are language models.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64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67335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panel, scenario switcher, live decision rail, audit tab, JSON export.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0" y="2322576"/>
            <a:ext cx="18288" cy="118872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441448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EDF3FA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layer  ·  Claude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54203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message and last six turns. Returns a fixed-enum request list plus a mood label. Falls back to a keyword parser if the model is unavailable.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0" y="3191256"/>
            <a:ext cx="18288" cy="118872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3310128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E6F2EE"/>
          </a:solidFill>
          <a:ln w="12700">
            <a:solidFill>
              <a:srgbClr val="1F7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 ·  code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41071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 of (requests, booking, session flags). Emits execute / decline / escalate / ask, each carrying its rule id.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0" y="4059936"/>
            <a:ext cx="18288" cy="118872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4178808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FBF2E4"/>
          </a:solidFill>
          <a:ln w="12700">
            <a:solidFill>
              <a:srgbClr val="D98A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270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+ escalation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427939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entitlements once, opens ESC tickets, flags the choice the customer still owes.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0" y="4928616"/>
            <a:ext cx="18288" cy="118872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5047488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EDF3FA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138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layer  ·  Claude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063240" y="514807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verdicts as the only permitted content. May not add, soften or invent an outcome.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38160" y="1572768"/>
            <a:ext cx="3456432" cy="3822192"/>
          </a:xfrm>
          <a:prstGeom prst="roundRect">
            <a:avLst>
              <a:gd name="adj" fmla="val 1587"/>
            </a:avLst>
          </a:prstGeom>
          <a:solidFill>
            <a:srgbClr val="12263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39328" y="1755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store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339328" y="21488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 every layer, written by none: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 customer profiles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 booking rows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7 rule clauses (R1–R5)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5 prohibited categories (P1–P5)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₹1,500 waiver ceiling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4251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record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339328" y="4617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Turns, verdicts, rule ids, tickets and timestamps — exported as one JSON file.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page, no backend, no build step — opens from a link or from file://.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SkyLink Resolution Desk  ·  Assignment 3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in one turn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from Priya, end to 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668780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arrives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6550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the full refund in cash and a free business upgrade."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7804" y="1938528"/>
            <a:ext cx="18288" cy="292608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231136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27228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249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extracted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22585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· refund_alt_method · free_upgrade · mood: angry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7804" y="2542032"/>
            <a:ext cx="18288" cy="292608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834640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87578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852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evaluates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28620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says SK-204 cancelled by the airline, Gold tier, no choice made yet.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7804" y="3145536"/>
            <a:ext cx="18288" cy="292608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438144"/>
            <a:ext cx="310896" cy="310896"/>
          </a:xfrm>
          <a:prstGeom prst="ellipse">
            <a:avLst/>
          </a:prstGeom>
          <a:solidFill>
            <a:srgbClr val="D98A28"/>
          </a:solidFill>
          <a:ln w="12700">
            <a:solidFill>
              <a:srgbClr val="D98A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47929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3456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emitted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154680" y="34655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→ execute (R1+R3).  Cash → escalate (P5).  Upgrade → escalate (P1+R5).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7804" y="3749040"/>
            <a:ext cx="18288" cy="292608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4041648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408279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4059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applied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154680" y="4069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initiated. Two tickets opened. Rail updates before the reply is written.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7804" y="4352544"/>
            <a:ext cx="18288" cy="292608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645152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4686300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written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3154680" y="46725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wording, constrained to those three outcomes and nothing else.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17804" y="4956048"/>
            <a:ext cx="18288" cy="292608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" y="5248656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" y="528980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24128" y="52669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appended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3154680" y="52760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audit entries, each timestamped with its rule id.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183880" y="1572768"/>
            <a:ext cx="3410712" cy="3017520"/>
          </a:xfrm>
          <a:prstGeom prst="roundRect">
            <a:avLst>
              <a:gd name="adj" fmla="val 1818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94192" y="175564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verdicts come first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394192" y="2194560"/>
            <a:ext cx="2999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rail fills in before a single word of the reply is generated. So the reviewer can see that the sentence follows the verdict, not the other way round.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is declined or offline, step 6 falls back to wording assembled from the verdicts themselves. Steps 1–5 and 7 never change.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SkyLink Resolution Desk  ·  Assignment 3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policy engine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branch, and the clause it comes from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697480" cy="36576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6184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asks for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4408" y="1572768"/>
            <a:ext cx="3200400" cy="36576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74136" y="1618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64808" y="1572768"/>
            <a:ext cx="1508760" cy="36576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74536" y="16184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73568" y="1572768"/>
            <a:ext cx="914400" cy="36576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83296" y="1618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1938528"/>
            <a:ext cx="8321040" cy="33375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" y="1975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Rebooking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374136" y="1975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cancelled by the airline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74536" y="1975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free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065008" y="19751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" y="23088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374136" y="23088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Cancelled, original payment method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574536" y="23088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065008" y="23088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R1+R3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2606040"/>
            <a:ext cx="8321040" cy="33375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" y="26426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to cash / other method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374136" y="26426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574536" y="26426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65008" y="26426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" y="29763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voucher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374136" y="29763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delay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574536" y="29763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₹500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065008" y="29763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3273552"/>
            <a:ext cx="8321040" cy="33375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6656" y="3310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Lounge access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374136" y="33101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over 3 hours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574536" y="3310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065008" y="3310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R2b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" y="36438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374136" y="36438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over 5 hours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574536" y="36438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Execute, hours only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065008" y="36438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R2c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" y="3941064"/>
            <a:ext cx="8321040" cy="33375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6656" y="3977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3374136" y="3977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5 hours or less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574536" y="3977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8065008" y="39776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R2c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76656" y="43113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night's hotel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3374136" y="43113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574536" y="43113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065008" y="43113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66928" y="4608576"/>
            <a:ext cx="8321040" cy="33375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76656" y="4645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upgrade or goodwill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3374136" y="4645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tier, including Platinum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574536" y="46451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8065008" y="46451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P1+R5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676656" y="49789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higher-fare flight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3374136" y="49789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change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574536" y="49789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Execute, customer pays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8065008" y="49789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6928" y="5276088"/>
            <a:ext cx="8321040" cy="33375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76656" y="53126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Waive fare difference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3374136" y="5312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₹1,500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6574536" y="53126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8065008" y="53126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676656" y="56464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action or complaint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3374136" y="56464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6574536" y="56464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immediately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8065008" y="56464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098280" y="1572768"/>
            <a:ext cx="2496312" cy="3858768"/>
          </a:xfrm>
          <a:prstGeom prst="roundRect">
            <a:avLst>
              <a:gd name="adj" fmla="val 2198"/>
            </a:avLst>
          </a:prstGeom>
          <a:solidFill>
            <a:srgbClr val="12263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281160" y="1755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tier</a:t>
            </a:r>
            <a:endParaRPr lang="en-US" sz="1250" dirty="0"/>
          </a:p>
        </p:txBody>
      </p:sp>
      <p:sp>
        <p:nvSpPr>
          <p:cNvPr id="68" name="Text 66"/>
          <p:cNvSpPr txBox="1"/>
          <p:nvPr/>
        </p:nvSpPr>
        <p:spPr>
          <a:xfrm>
            <a:off x="9281160" y="2121408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and Platinum get first access to next-available seats. Nothing else. The engine adds R5 to a rebooking verdict and never to a compensation one.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9281160" y="3429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is not failing</a:t>
            </a:r>
            <a:endParaRPr lang="en-US" sz="1250" dirty="0"/>
          </a:p>
        </p:txBody>
      </p:sp>
      <p:sp>
        <p:nvSpPr>
          <p:cNvPr id="70" name="Text 68"/>
          <p:cNvSpPr txBox="1"/>
          <p:nvPr/>
        </p:nvSpPr>
        <p:spPr>
          <a:xfrm>
            <a:off x="9281160" y="3794760"/>
            <a:ext cx="2130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 that cites the clause and offers what does apply is a correct resolution. Escalation is reserved for things the desk genuinely cannot decide.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SkyLink Resolution Desk  ·  Assignment 3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1 and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Priya, cancelled. Arvind, delayed four hours.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266944" cy="4114800"/>
          </a:xfrm>
          <a:prstGeom prst="roundRect">
            <a:avLst>
              <a:gd name="adj" fmla="val 1333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 Nair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0299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· SK4821X · SK-204 Delhi → Goa cancelled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04672" y="2496312"/>
            <a:ext cx="137160" cy="13716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2416" y="245059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what happens now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2688336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offers the choice R1 gives her — free rebooking within 24 hours or a full refund — and does not pick for her.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" y="3255264"/>
            <a:ext cx="137160" cy="137160"/>
          </a:xfrm>
          <a:prstGeom prst="ellipse">
            <a:avLst/>
          </a:prstGeom>
          <a:solidFill>
            <a:srgbClr val="1F7A66"/>
          </a:solidFill>
          <a:ln w="12700">
            <a:solidFill>
              <a:srgbClr val="1F7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2416" y="320954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refund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344728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Executed. Full amount, 7 business days, original payment method (R3).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" y="4014216"/>
            <a:ext cx="137160" cy="137160"/>
          </a:xfrm>
          <a:prstGeom prst="ellipse">
            <a:avLst/>
          </a:prstGeom>
          <a:solidFill>
            <a:srgbClr val="9E3B3B"/>
          </a:solidFill>
          <a:ln w="12700">
            <a:solidFill>
              <a:srgbClr val="9E3B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396849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Furious: cash refund + free business upgrade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42416" y="420624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→ escalated (P5). Upgrade → escalated (P1). Gold gives seat priority, not goodwill (R5). The refund already granted stays granted.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52303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 changes the opening sentence. It does not change a single verdict.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1572768"/>
            <a:ext cx="5266944" cy="4114800"/>
          </a:xfrm>
          <a:prstGeom prst="roundRect">
            <a:avLst>
              <a:gd name="adj" fmla="val 1333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28816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Arvind Kulkarni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20299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· TR1190B · SK-118 Mumbai → Bengaluru delayed 4h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47104" y="2496312"/>
            <a:ext cx="137160" cy="137160"/>
          </a:xfrm>
          <a:prstGeom prst="ellipse">
            <a:avLst/>
          </a:prstGeom>
          <a:solidFill>
            <a:srgbClr val="1F7A66"/>
          </a:solidFill>
          <a:ln w="12700">
            <a:solidFill>
              <a:srgbClr val="1F7A6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84848" y="245059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Frustrated, missing a client meeting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2688336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and lounge access applied straight away under R2b — before he has to ask.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47104" y="3255264"/>
            <a:ext cx="137160" cy="137160"/>
          </a:xfrm>
          <a:prstGeom prst="ellipse">
            <a:avLst/>
          </a:prstGeom>
          <a:solidFill>
            <a:srgbClr val="D98A28"/>
          </a:solidFill>
          <a:ln w="12700">
            <a:solidFill>
              <a:srgbClr val="D98A2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84848" y="320954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a hotel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784848" y="344728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Declined. Hotel cover starts above 5 hours; this delay is 4. The clause is quoted and the alternative restated.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47104" y="4014216"/>
            <a:ext cx="137160" cy="13716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84848" y="396849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what he actually gets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20624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the two live entitlements. No escalation — nothing here is above desk authority.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528816" y="52303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case is the honest no, delivered without escalating to look helpful.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SkyLink Resolution Desk  ·  Assignment 3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3 and the escalation path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Meher, delayed six hours, asking for two things above the 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760720" cy="4114800"/>
          </a:xfrm>
          <a:prstGeom prst="roundRect">
            <a:avLst>
              <a:gd name="adj" fmla="val 1333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Meher Kaur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0299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· WL7742 · SK-305 Delhi → Hyderabad delayed 6h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04672" y="2496312"/>
            <a:ext cx="137160" cy="137160"/>
          </a:xfrm>
          <a:prstGeom prst="ellipse">
            <a:avLst/>
          </a:prstGeom>
          <a:solidFill>
            <a:srgbClr val="1F7A66"/>
          </a:solidFill>
          <a:ln w="12700">
            <a:solidFill>
              <a:srgbClr val="1F7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2416" y="245059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under R2c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268833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voucher, lounge access and a hotel covering the delayed hours — applied on the first message.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" y="3264408"/>
            <a:ext cx="137160" cy="137160"/>
          </a:xfrm>
          <a:prstGeom prst="ellipse">
            <a:avLst/>
          </a:prstGeom>
          <a:solidFill>
            <a:srgbClr val="9E3B3B"/>
          </a:solidFill>
          <a:ln w="12700">
            <a:solidFill>
              <a:srgbClr val="9E3B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2416" y="32186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night's stay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34564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(P1). The clause says delayed hours only, so extending it is compensation beyond policy.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" y="4032504"/>
            <a:ext cx="137160" cy="137160"/>
          </a:xfrm>
          <a:prstGeom prst="ellipse">
            <a:avLst/>
          </a:prstGeom>
          <a:solidFill>
            <a:srgbClr val="1F7A66"/>
          </a:solidFill>
          <a:ln w="12700">
            <a:solidFill>
              <a:srgbClr val="1F7A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39867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the higher-fare flight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42416" y="42245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(R4). It is a voluntary change, so the ₹2,000 difference is hers. Platinum priority still applies to the seat.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" y="4800600"/>
            <a:ext cx="137160" cy="137160"/>
          </a:xfrm>
          <a:prstGeom prst="ellipse">
            <a:avLst/>
          </a:prstGeom>
          <a:solidFill>
            <a:srgbClr val="9E3B3B"/>
          </a:solidFill>
          <a:ln w="12700">
            <a:solidFill>
              <a:srgbClr val="9E3B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2416" y="47548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pay the difference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42416" y="499262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(P2). ₹2,000 is above the ₹1,500 ceiling, so the agent promises nothing and hands it up.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1572768"/>
            <a:ext cx="5010912" cy="4114800"/>
          </a:xfrm>
          <a:prstGeom prst="roundRect">
            <a:avLst>
              <a:gd name="adj" fmla="val 1333"/>
            </a:avLst>
          </a:prstGeom>
          <a:solidFill>
            <a:srgbClr val="12263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03136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escalation carries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803136" y="2176272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id tied to the case id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clause that removed the agent's authority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ask, in the customer's own words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Tier, PNR and disruption context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entitlement already applied, so the human doesn't repeat it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803136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it never does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803136" y="440740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supervisor's answer, hint that it will probably be approved, or withdraw an entitlement the customer already has. Escalation moves the decision; it doesn't promise the outcome.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SkyLink Resolution Desk  ·  Assignment 3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66928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interface behind Scenario 3</a:t>
            </a:r>
            <a:endParaRPr lang="en-US" sz="3400" dirty="0"/>
          </a:p>
        </p:txBody>
      </p:sp>
      <p:sp>
        <p:nvSpPr>
          <p:cNvPr id="3" name="Subtitle"/>
          <p:cNvSpPr txBox="1"/>
          <p:nvPr/>
        </p:nvSpPr>
        <p:spPr>
          <a:xfrm>
            <a:off x="566928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Meher Kaur’s case, open in the live prototype — the decision rail matches every verdict from the previous slide</a:t>
            </a:r>
            <a:endParaRPr lang="en-US" sz="1400" dirty="0"/>
          </a:p>
        </p:txBody>
      </p:sp>
      <p:sp>
        <p:nvSpPr>
          <p:cNvPr id="4" name="Card Light"/>
          <p:cNvSpPr/>
          <p:nvPr/>
        </p:nvSpPr>
        <p:spPr>
          <a:xfrm>
            <a:off x="566928" y="1572768"/>
            <a:ext cx="5404072" cy="4677232"/>
          </a:xfrm>
          <a:prstGeom prst="roundRect">
            <a:avLst>
              <a:gd name="adj" fmla="val 2000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5" name="Card Dark"/>
          <p:cNvSpPr/>
          <p:nvPr/>
        </p:nvSpPr>
        <p:spPr>
          <a:xfrm>
            <a:off x="6221000" y="1572768"/>
            <a:ext cx="5404072" cy="4677232"/>
          </a:xfrm>
          <a:prstGeom prst="roundRect">
            <a:avLst>
              <a:gd name="adj" fmla="val 2000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6" name="Label Light"/>
          <p:cNvSpPr txBox="1"/>
          <p:nvPr/>
        </p:nvSpPr>
        <p:spPr>
          <a:xfrm>
            <a:off x="795528" y="1801368"/>
            <a:ext cx="4946872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 theme</a:t>
            </a:r>
            <a:endParaRPr lang="en-US" sz="1300" dirty="0"/>
          </a:p>
        </p:txBody>
      </p:sp>
      <p:sp>
        <p:nvSpPr>
          <p:cNvPr id="7" name="Label Dark"/>
          <p:cNvSpPr txBox="1"/>
          <p:nvPr/>
        </p:nvSpPr>
        <p:spPr>
          <a:xfrm>
            <a:off x="6449600" y="1801368"/>
            <a:ext cx="4946872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theme</a:t>
            </a:r>
            <a:endParaRPr lang="en-US" sz="1300" dirty="0"/>
          </a:p>
        </p:txBody>
      </p:sp>
      <p:pic>
        <p:nvPicPr>
          <p:cNvPr id="8" name="Screenshot L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271368"/>
            <a:ext cx="4946872" cy="2954500"/>
          </a:xfrm>
          <a:prstGeom prst="roundRect">
            <a:avLst>
              <a:gd name="adj" fmla="val 3000"/>
            </a:avLst>
          </a:prstGeom>
          <a:ln w="9525">
            <a:solidFill>
              <a:srgbClr val="C9D6E4"/>
            </a:solidFill>
          </a:ln>
          <a:effectLst>
            <a:outerShdw blurRad="90000" dist="25000" dir="5400000" rotWithShape="0">
              <a:srgbClr val="12263A">
                <a:alpha val="20000"/>
              </a:srgbClr>
            </a:outerShdw>
          </a:effectLst>
        </p:spPr>
      </p:pic>
      <p:pic>
        <p:nvPicPr>
          <p:cNvPr id="9" name="Screenshot D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282" y="2271368"/>
            <a:ext cx="4793508" cy="3230032"/>
          </a:xfrm>
          <a:prstGeom prst="roundRect">
            <a:avLst>
              <a:gd name="adj" fmla="val 3000"/>
            </a:avLst>
          </a:prstGeom>
          <a:ln w="9525">
            <a:solidFill>
              <a:srgbClr val="C9D6E4"/>
            </a:solidFill>
          </a:ln>
          <a:effectLst>
            <a:outerShdw blurRad="90000" dist="25000" dir="5400000" rotWithShape="0">
              <a:srgbClr val="12263A">
                <a:alpha val="20000"/>
              </a:srgbClr>
            </a:outerShdw>
          </a:effectLst>
        </p:spPr>
      </p:pic>
      <p:sp>
        <p:nvSpPr>
          <p:cNvPr id="10" name="Caption Light"/>
          <p:cNvSpPr txBox="1"/>
          <p:nvPr/>
        </p:nvSpPr>
        <p:spPr>
          <a:xfrm>
            <a:off x="795528" y="5345868"/>
            <a:ext cx="494687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CASE-WL77-6427 — the decision rail lists a rule id, ticket number and status for every verdict.</a:t>
            </a:r>
            <a:endParaRPr lang="en-US" sz="1050" dirty="0"/>
          </a:p>
        </p:txBody>
      </p:sp>
      <p:sp>
        <p:nvSpPr>
          <p:cNvPr id="11" name="Caption Dark"/>
          <p:cNvSpPr txBox="1"/>
          <p:nvPr/>
        </p:nvSpPr>
        <p:spPr>
          <a:xfrm>
            <a:off x="6449600" y="5621400"/>
            <a:ext cx="494687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conversation, same escalation ticket (ESC-6427-1) — theme is a display setting, not a policy difference.</a:t>
            </a:r>
            <a:endParaRPr lang="en-US" sz="1050" dirty="0"/>
          </a:p>
        </p:txBody>
      </p:sp>
      <p:sp>
        <p:nvSpPr>
          <p:cNvPr id="12" name="Footer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SkyLink Resolution Desk  ·  Assignment 3</a:t>
            </a:r>
            <a:endParaRPr lang="en-US" sz="950" dirty="0"/>
          </a:p>
        </p:txBody>
      </p:sp>
      <p:sp>
        <p:nvSpPr>
          <p:cNvPr id="13" name="PageNum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26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limits, and where it goes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029200" cy="1371600"/>
          </a:xfrm>
          <a:prstGeom prst="roundRect">
            <a:avLst>
              <a:gd name="adj" fmla="val 4000"/>
            </a:avLst>
          </a:prstGeom>
          <a:solidFill>
            <a:srgbClr val="1D3A5C"/>
          </a:solidFill>
          <a:ln w="9525">
            <a:solidFill>
              <a:srgbClr val="2E5C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2416" y="1956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real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42416" y="22860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intent layer, the policy engine, the escalation logic, the conversation record and the export are all working code you can break in front of me.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029200" cy="1371600"/>
          </a:xfrm>
          <a:prstGeom prst="roundRect">
            <a:avLst>
              <a:gd name="adj" fmla="val 4000"/>
            </a:avLst>
          </a:prstGeom>
          <a:solidFill>
            <a:srgbClr val="1D3A5C"/>
          </a:solidFill>
          <a:ln w="9525">
            <a:solidFill>
              <a:srgbClr val="2E5C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7376" y="1956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simulated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37376" y="22860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Rebooking, vouchers, lounge, hotel and refunds are recorded as actions, not sent to a reservation system. The data pack has no inventory to book against.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5029200" cy="1371600"/>
          </a:xfrm>
          <a:prstGeom prst="roundRect">
            <a:avLst>
              <a:gd name="adj" fmla="val 4000"/>
            </a:avLst>
          </a:prstGeom>
          <a:solidFill>
            <a:srgbClr val="1D3A5C"/>
          </a:solidFill>
          <a:ln w="9525">
            <a:solidFill>
              <a:srgbClr val="2E5C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2416" y="3557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would not ship yet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38862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identity verification, multi-PNR households, partial refunds, and a supervisor queue that writes its decision back into the same case record.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3429000"/>
            <a:ext cx="5029200" cy="1371600"/>
          </a:xfrm>
          <a:prstGeom prst="roundRect">
            <a:avLst>
              <a:gd name="adj" fmla="val 4000"/>
            </a:avLst>
          </a:prstGeom>
          <a:solidFill>
            <a:srgbClr val="1D3A5C"/>
          </a:solidFill>
          <a:ln w="9525">
            <a:solidFill>
              <a:srgbClr val="2E5C8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3557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one-week version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38862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grounding object for a policy service, put the rule matrix behind a versioned config so ops can change a ceiling without a deploy, and log every verdict for audit sampling.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257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1100" dirty="0"/>
          </a:p>
        </p:txBody>
      </p:sp>
      <p:sp>
        <p:nvSpPr>
          <p:cNvPr id="17" name="Text 15">
            <a:hlinkClick r:id="rId3" action="ppaction://hlinksldjump"/>
          </p:cNvPr>
          <p:cNvSpPr txBox="1"/>
          <p:nvPr/>
        </p:nvSpPr>
        <p:spPr>
          <a:xfrm>
            <a:off x="822960" y="5577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highlight>
                  <a:srgbClr val="FFFF00"/>
                </a:highlight>
              </a:rPr>
              <a:t>https://skylink-resolution-agent.vercel.app/?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and demo video links in the submission form.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5532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1982</Words>
  <Application>Microsoft Office PowerPoint</Application>
  <PresentationFormat>Widescreen</PresentationFormat>
  <Paragraphs>262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Tamanna Arora</cp:lastModifiedBy>
  <cp:revision>2</cp:revision>
  <dcterms:created xsi:type="dcterms:W3CDTF">2026-09-17T09:51:03Z</dcterms:created>
  <dcterms:modified xsi:type="dcterms:W3CDTF">2026-09-17T13:13:01Z</dcterms:modified>
</cp:coreProperties>
</file>