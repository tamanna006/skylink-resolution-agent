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agent, three live disruption cases from the data pack. The claim I'm making: it resolves inside policy and never invents authority it doesn't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seven map one-to-one onto the brief's bullet list. Each one has a named home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prohibited list is the spine of the design. Hallucinated generosity is the real failure mode for a customer-facing agent, so policy never touches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seam between layer 2 and layer 3 is the whole design. Intent is fuzzy and the model is good at it; entitlement is exact and code is good at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Worth demoing live: point at the rail filling in, then at the reply appearing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Twelve branches, all traceable to a clause in section 3 or 4 of the data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Arvind is the scenario most agents get wrong — they either invent a hotel or escalate a decision they were allowed to make.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Meher is the scenario with two independent escalations in one conversation, plus entitlements that stay live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ready for: what stops the model going off-policy? Answer: it is never asked a policy question, and its output is filtered against an enum.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limits slide deliberately — knowing what isn't real is the thing that survives a defence round.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600200"/>
            <a:ext cx="7498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Customer-Facing</a:t>
            </a:r>
            <a:endParaRPr lang="en-US" sz="4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Resolution Agent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airline disruption desk that decides inside policy, and escalates when it cannot.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572000"/>
            <a:ext cx="3200400" cy="822960"/>
          </a:xfrm>
          <a:prstGeom prst="roundRect">
            <a:avLst>
              <a:gd name="adj" fmla="val 6667"/>
            </a:avLst>
          </a:prstGeom>
          <a:solidFill>
            <a:srgbClr val="1D3A5C"/>
          </a:solidFill>
          <a:ln w="12700">
            <a:solidFill>
              <a:srgbClr val="2E5C8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709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(Data Science), NCU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686800" y="4709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AIONOS  ·  Agentic AI Factory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3  ·  Sep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49640" y="1737360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D3A5C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0" y="185623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SK-204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418320" y="186537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→ Goa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0716768" y="1929384"/>
            <a:ext cx="146304" cy="146304"/>
          </a:xfrm>
          <a:prstGeom prst="ellipse">
            <a:avLst/>
          </a:prstGeom>
          <a:solidFill>
            <a:srgbClr val="9E3B3B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27080" y="18790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549640" y="2395728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D3A5C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0" y="25146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SK-118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 → Bengaluru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716768" y="2587752"/>
            <a:ext cx="146304" cy="146304"/>
          </a:xfrm>
          <a:prstGeom prst="ellipse">
            <a:avLst/>
          </a:prstGeom>
          <a:solidFill>
            <a:srgbClr val="D98A28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27080" y="25374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4h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549640" y="3054096"/>
            <a:ext cx="3063240" cy="530352"/>
          </a:xfrm>
          <a:prstGeom prst="roundRect">
            <a:avLst>
              <a:gd name="adj" fmla="val 8621"/>
            </a:avLst>
          </a:prstGeom>
          <a:solidFill>
            <a:srgbClr val="1D3A5C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0" y="3172968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SK-305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0" y="318211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→ Hyderabad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0716768" y="3246120"/>
            <a:ext cx="146304" cy="146304"/>
          </a:xfrm>
          <a:prstGeom prst="ellipse">
            <a:avLst/>
          </a:prstGeom>
          <a:solidFill>
            <a:srgbClr val="D98A28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927080" y="31958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6h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agent has to get right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behaviours from the brief, and where each one lives in the build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2093976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13512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929384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intent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212848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classifies each message into a fixed request enum — never free-form.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44768" y="1783080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45936" y="2093976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45936" y="213512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0" y="1929384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only what's needed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212848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comes from the PNR. The one question asked is the one the rule leaves open.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2898648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209544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68096" y="32506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3044952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supplied data only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328416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Profiles, bookings and rules are transcribed into one grounding object. No outside facts.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2898648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3209544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45936" y="32506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044952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right action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3328416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engine maps request + booking state to an entitlement.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4014216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4325112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68096" y="436626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188720" y="4160520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anger and confusion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1188720" y="4443984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is read separately from intent, so tone changes and the decision doesn't.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44768" y="4014216"/>
            <a:ext cx="526694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45936" y="4325112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45936" y="436626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4160520"/>
            <a:ext cx="4443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 missing authority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443984"/>
            <a:ext cx="44439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prohibited categories short-circuit the engine into a ticket.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66928" y="5129784"/>
            <a:ext cx="10936224" cy="932688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5440680"/>
            <a:ext cx="310896" cy="310896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68096" y="548182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276088"/>
            <a:ext cx="10113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record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1188720" y="5559552"/>
            <a:ext cx="10113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message, intent, verdict and rule is timestamped and exportable.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sources and assumptions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agent knows, and the three things I decided for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used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 profiles — tier, contact, 12-month history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booking rows — PNR, flight, route, status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service rules — cancellation, delay, refund, fare, tier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vs prohibited action list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sample conversations — read for tone only, never as fact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21208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access, no invented flights, no invented amounts.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15968" y="1600200"/>
            <a:ext cx="3566160" cy="4160520"/>
          </a:xfrm>
          <a:prstGeom prst="roundRect">
            <a:avLst>
              <a:gd name="adj" fmla="val 1538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I made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148840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is pre-verified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386584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 opens from the booking, so the agent doesn't re-ask for the PNR.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0449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bands are exclusive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3282696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"More than 5 hours" means 4h gets voucher + lounge, not a hotel.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3941064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≠ delay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26280" y="417880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cancelled flight goes to rebooking or refund, not to the delay compensation table.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526280" y="4837176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isn't escalating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50749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no inside policy is desk work. Only approving beyond policy needs a human.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65008" y="1600200"/>
            <a:ext cx="3529584" cy="4160520"/>
          </a:xfrm>
          <a:prstGeom prst="roundRect">
            <a:avLst>
              <a:gd name="adj" fmla="val 1554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rule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240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 writes sentences.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never writes entitlements.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329184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Amounts, rules, eligibility and escalation are computed in JavaScript from the data pack. If the language model is switched off, the agent still reaches exactly the same verdicts — only the wording changes.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5029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makes it defensible in an interview.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layers. Only the first and last are language models.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063240" y="167335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panel, scenario switcher, live decision rail, audit tab, JSON export.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0" y="2322576"/>
            <a:ext cx="18288" cy="118872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244144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DF3FA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532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layer  ·  Claude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254203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message and last six turns. Returns a fixed-enum request list plus a mood label. Falls back to a keyword parser if the model is unavailable.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3191256"/>
            <a:ext cx="18288" cy="118872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331012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6F2EE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01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engine  ·  code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41071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function of (requests, booking, session flags). Emits execute / decline / escalate / ask, each carrying its rule id.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0" y="4059936"/>
            <a:ext cx="18288" cy="118872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417880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FBF2E4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2702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+ escalation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063240" y="427939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entitlements once, opens ESC tickets, flags the choice the customer still owes.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0" y="4928616"/>
            <a:ext cx="18288" cy="118872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5047488"/>
            <a:ext cx="7315200" cy="749808"/>
          </a:xfrm>
          <a:prstGeom prst="roundRect">
            <a:avLst>
              <a:gd name="adj" fmla="val 7317"/>
            </a:avLst>
          </a:prstGeom>
          <a:solidFill>
            <a:srgbClr val="EDF3FA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38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layer  ·  Claude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063240" y="514807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the verdicts as the only permitted content. May not add, soften or invent an outcome.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138160" y="1572768"/>
            <a:ext cx="3456432" cy="3822192"/>
          </a:xfrm>
          <a:prstGeom prst="roundRect">
            <a:avLst>
              <a:gd name="adj" fmla="val 1587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9328" y="17556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store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214884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by every layer, written by none: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3 customer profiles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4 booking rows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7 rule clauses (R1–R5)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5 prohibited categories (P1–P5)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₹1,500 waiver ceiling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2519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record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339328" y="4617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Turns, verdicts, rule ids, tickets and timestamps — exported as one JSON file.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HTML page, no backend, no build step — opens from a link or from file://.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in one turn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from Priya, end to end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66878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24128" y="1645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arrives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154680" y="165506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want the full refund in cash and a free business upgrade."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17804" y="1938528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231136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6928" y="227228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22494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extracted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154680" y="225856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· refund_alt_method · free_upgrade · mood: angry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17804" y="2542032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2834640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875788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2852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evaluates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862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says SK-204 cancelled by the airline, Gold tier, no choice made yet.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7804" y="3145536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438144"/>
            <a:ext cx="310896" cy="310896"/>
          </a:xfrm>
          <a:prstGeom prst="ellipse">
            <a:avLst/>
          </a:prstGeom>
          <a:solidFill>
            <a:srgbClr val="D98A28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479292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345643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Verdicts emitted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54680" y="34655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→ execute (R1+R3).  Cash → escalate (P5).  Upgrade → escalate (P1+R5).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17804" y="3749040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6928" y="4041648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6928" y="4082796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40599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applied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3154680" y="4069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initiated. Two tickets opened. Rail updates before the reply is written.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7804" y="4352544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645152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" y="4686300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written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3154680" y="467258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wording, constrained to those three outcomes and nothing else.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7804" y="4956048"/>
            <a:ext cx="18288" cy="292608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66928" y="5248656"/>
            <a:ext cx="310896" cy="310896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66928" y="5289804"/>
            <a:ext cx="310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24128" y="526694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appended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3154680" y="5276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audit entries, each timestamped with its rule id.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183880" y="1572768"/>
            <a:ext cx="3410712" cy="301752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94192" y="1755648"/>
            <a:ext cx="2999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verdicts come first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394192" y="2194560"/>
            <a:ext cx="299923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rail fills in before a single word of the reply is generated. So the reviewer can see that the sentence follows the verdict, not the other way round.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is declined or offline, step 6 falls back to wording assembled from the verdicts themselves. Steps 1–5 and 7 never change.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policy engine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branch, and the clause it comes from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97480" cy="3657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76656" y="16184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asks for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4408" y="1572768"/>
            <a:ext cx="3200400" cy="3657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74136" y="16184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64808" y="1572768"/>
            <a:ext cx="1508760" cy="3657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74536" y="16184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973568" y="1572768"/>
            <a:ext cx="914400" cy="365760"/>
          </a:xfrm>
          <a:prstGeom prst="rect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83296" y="161848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1938528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" y="197510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19751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cancelled by the airline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197510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free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65008" y="197510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" y="23088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374136" y="23088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Cancelled, original payment method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574536" y="230886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065008" y="23088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R1+R3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2606040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" y="26426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to cash / other method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374136" y="26426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74536" y="264261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8065008" y="264261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" y="29763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voucher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3374136" y="297637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delay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574536" y="29763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₹500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8065008" y="29763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" y="3273552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6656" y="3310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Lounge access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3374136" y="33101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over 3 hours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574536" y="33101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065008" y="33101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R2b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" y="36438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3374136" y="364388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over 5 hours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574536" y="364388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Execute, hours only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065008" y="364388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R2c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6928" y="3941064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" y="397764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3374136" y="39776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 5 hours or less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6574536" y="397764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8065008" y="39776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R2c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76656" y="431139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night's hotel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3374136" y="43113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574536" y="431139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065008" y="43113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6928" y="4608576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76656" y="464515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upgrade or goodwill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3374136" y="46451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tier, including Platinum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574536" y="46451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8065008" y="46451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P1+R5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676656" y="49789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higher-fare flight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3374136" y="497890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change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574536" y="49789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Execute, customer pays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8065008" y="497890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" y="5276088"/>
            <a:ext cx="8321040" cy="333756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76656" y="53126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Waive fare difference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3374136" y="531266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₹1,500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574536" y="5312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8065008" y="53126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76656" y="564642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action or complaint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3374136" y="56464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6574536" y="5646420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E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immediately</a:t>
            </a:r>
            <a:endParaRPr lang="en-US" sz="1000" dirty="0"/>
          </a:p>
        </p:txBody>
      </p:sp>
      <p:sp>
        <p:nvSpPr>
          <p:cNvPr id="65" name="Text 63"/>
          <p:cNvSpPr txBox="1"/>
          <p:nvPr/>
        </p:nvSpPr>
        <p:spPr>
          <a:xfrm>
            <a:off x="8065008" y="56464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9098280" y="1572768"/>
            <a:ext cx="2496312" cy="3858768"/>
          </a:xfrm>
          <a:prstGeom prst="roundRect">
            <a:avLst>
              <a:gd name="adj" fmla="val 2198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281160" y="17556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tier</a:t>
            </a:r>
            <a:endParaRPr lang="en-US" sz="1250" dirty="0"/>
          </a:p>
        </p:txBody>
      </p:sp>
      <p:sp>
        <p:nvSpPr>
          <p:cNvPr id="68" name="Text 66"/>
          <p:cNvSpPr txBox="1"/>
          <p:nvPr/>
        </p:nvSpPr>
        <p:spPr>
          <a:xfrm>
            <a:off x="9281160" y="2121408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Platinum get first access to next-available seats. Nothing else. The engine adds R5 to a rebooking verdict and never to a compensation one.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9281160" y="342900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is not failing</a:t>
            </a:r>
            <a:endParaRPr lang="en-US" sz="1250" dirty="0"/>
          </a:p>
        </p:txBody>
      </p:sp>
      <p:sp>
        <p:nvSpPr>
          <p:cNvPr id="70" name="Text 68"/>
          <p:cNvSpPr txBox="1"/>
          <p:nvPr/>
        </p:nvSpPr>
        <p:spPr>
          <a:xfrm>
            <a:off x="9281160" y="3794760"/>
            <a:ext cx="21305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 that cites the clause and offers what does apply is a correct resolution. Escalation is reserved for things the desk genuinely cannot decide.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72" name="Text 70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1 and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Priya, cancelled. Arvind, delayed four hours.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266944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Nair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29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· SK4821X · SK-204 Delhi → Goa cancelled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" y="2496312"/>
            <a:ext cx="137160" cy="13716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4505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happens now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68833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offers the choice R1 gives her — free rebooking within 24 hours or a full refund — and does not pick for her.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3255264"/>
            <a:ext cx="137160" cy="137160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20954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refund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44728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Executed. Full amount, 7 business days, original payment method (R3).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" y="4014216"/>
            <a:ext cx="137160" cy="137160"/>
          </a:xfrm>
          <a:prstGeom prst="ellipse">
            <a:avLst/>
          </a:prstGeom>
          <a:solidFill>
            <a:srgbClr val="9E3B3B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9684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Furious: cash refund + free business upgrade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20624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→ escalated (P5). Upgrade → escalated (P1). Gold gives seat priority, not goodwill (R5). The refund already granted stays granted.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5230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Anger changes the opening sentence. It does not change a single verdict.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1572768"/>
            <a:ext cx="5266944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8816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Arvind Kulkarni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202996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 · TR1190B · SK-118 Mumbai → Bengaluru delayed 4h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547104" y="2496312"/>
            <a:ext cx="137160" cy="137160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84848" y="245059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Frustrated, missing a client meeting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784848" y="268833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and lounge access applied straight away under R2b — before he has to ask.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47104" y="3255264"/>
            <a:ext cx="137160" cy="137160"/>
          </a:xfrm>
          <a:prstGeom prst="ellipse">
            <a:avLst/>
          </a:prstGeom>
          <a:solidFill>
            <a:srgbClr val="D98A28"/>
          </a:solidFill>
          <a:ln w="12700">
            <a:solidFill>
              <a:srgbClr val="D98A2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84848" y="3209544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for a hotel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784848" y="344728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Declined. Hotel cover starts above 5 hours; this delay is 4. The clause is quoted and the alternative restated.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47104" y="4014216"/>
            <a:ext cx="137160" cy="13716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84848" y="3968496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he actually gets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784848" y="4206240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the two live entitlements. No escalation — nothing here is above desk authority.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528816" y="52303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case is the honest no, delivered without escalating to look helpful.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3 and the escalation path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Meher, delayed six hours, asking for two things above the 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5760720" cy="4114800"/>
          </a:xfrm>
          <a:prstGeom prst="roundRect">
            <a:avLst>
              <a:gd name="adj" fmla="val 1333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Meher Kaur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029968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Platinum · WL7742 · SK-305 Delhi → Hyderabad delayed 6h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04672" y="2496312"/>
            <a:ext cx="137160" cy="137160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42416" y="245059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under R2c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042416" y="268833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voucher, lounge access and a hotel covering the delayed hours — applied on the first message.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3264408"/>
            <a:ext cx="137160" cy="137160"/>
          </a:xfrm>
          <a:prstGeom prst="ellipse">
            <a:avLst/>
          </a:prstGeom>
          <a:solidFill>
            <a:srgbClr val="9E3B3B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218688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night's stay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4564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(P1). The clause says delayed hours only, so extending it is compensation beyond policy.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" y="4032504"/>
            <a:ext cx="137160" cy="137160"/>
          </a:xfrm>
          <a:prstGeom prst="ellipse">
            <a:avLst/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42416" y="398678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the higher-fare flight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42416" y="422452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(R4). It is a voluntary change, so the ₹2,000 difference is hers. Platinum priority still applies to the seat.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" y="4800600"/>
            <a:ext cx="137160" cy="137160"/>
          </a:xfrm>
          <a:prstGeom prst="ellipse">
            <a:avLst/>
          </a:prstGeom>
          <a:solidFill>
            <a:srgbClr val="9E3B3B"/>
          </a:solidFill>
          <a:ln w="12700">
            <a:solidFill>
              <a:srgbClr val="9E3B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2416" y="475488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to pay the difference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42416" y="49926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Escalated (P2). ₹2,000 is above the ₹1,500 ceiling, so the agent promises nothing and hands it up.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1572768"/>
            <a:ext cx="5010912" cy="4114800"/>
          </a:xfrm>
          <a:prstGeom prst="roundRect">
            <a:avLst>
              <a:gd name="adj" fmla="val 1333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03136" y="1755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an escalation carries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803136" y="2176272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id tied to the case id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clause that removed the agent's authority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ask, in the customer's own words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Tier, PNR and disruption context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entitlement already applied, so the human doesn't repeat it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803136" y="4023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it never does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03136" y="4407408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the supervisor's answer, hint that it will probably be approved, or withdraw an entitlement the customer already has. Escalation moves the decision; it doesn't promise the outcome.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tools, and what each one actually did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789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uses at build time, one at run time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7315200" cy="1133856"/>
          </a:xfrm>
          <a:prstGeom prst="roundRect">
            <a:avLst>
              <a:gd name="adj" fmla="val 4839"/>
            </a:avLst>
          </a:prstGeom>
          <a:solidFill>
            <a:srgbClr val="E6F2EE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728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inside the running agent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309360" y="1728216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1F7A66"/>
          </a:solidFill>
          <a:ln w="12700">
            <a:solidFill>
              <a:srgbClr val="1F7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7602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time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057400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constrained calls per turn. One classifies the message into the request enum and reads mood; one writes the reply from verdicts it is forbidden to alter. Quick tier, no memory between calls, whole prompt built from the grounding store.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898648"/>
            <a:ext cx="7315200" cy="1133856"/>
          </a:xfrm>
          <a:prstGeom prst="roundRect">
            <a:avLst>
              <a:gd name="adj" fmla="val 4839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4672" y="30266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— building 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309360" y="3026664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1D3A5C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0586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time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3355848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Turned the data pack into the grounding object, drafted the rule matrix, wrote the page, and stress-tested the engine against edge phrasings of the three scenarios.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4197096"/>
            <a:ext cx="7315200" cy="1133856"/>
          </a:xfrm>
          <a:prstGeom prst="roundRect">
            <a:avLst>
              <a:gd name="adj" fmla="val 4839"/>
            </a:avLst>
          </a:prstGeom>
          <a:solidFill>
            <a:srgbClr val="F4F7F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3251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artifact hosting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432511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1D3A5C"/>
          </a:solidFill>
          <a:ln w="12700">
            <a:solidFill>
              <a:srgbClr val="1D3A5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43571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654296"/>
            <a:ext cx="6858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4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published as a shareable link — no install, no keys, no local setup for the reviewer.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1600200"/>
            <a:ext cx="3456432" cy="3877056"/>
          </a:xfrm>
          <a:prstGeom prst="roundRect">
            <a:avLst>
              <a:gd name="adj" fmla="val 1587"/>
            </a:avLst>
          </a:prstGeom>
          <a:solidFill>
            <a:srgbClr val="12263A"/>
          </a:solidFill>
          <a:ln w="9525">
            <a:solidFill>
              <a:srgbClr val="C9D6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39328" y="1783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discipline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2212848"/>
            <a:ext cx="303580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prompt can only return values from a fixed list, and anything outside it is dropped before the engine sees it.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reply prompt receives the verdicts as the only content it may communicate, and is told not to add an amount, a flight, a date or a gesture.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prompt contains a policy the engine doesn't already enforce.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55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SkyLink Resolution Desk  ·  Assignment 3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106424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rgbClr val="5C6A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limits, and where it goes next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D3A5C"/>
          </a:solidFill>
          <a:ln w="9525">
            <a:solidFill>
              <a:srgbClr val="2E5C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42416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042416" y="22860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intent layer, the policy engine, the escalation logic, the conversation record and the export are all working code you can break in front of me.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D3A5C"/>
          </a:solidFill>
          <a:ln w="9525">
            <a:solidFill>
              <a:srgbClr val="2E5C8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7376" y="19568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simulated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22860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Rebooking, vouchers, lounge, hotel and refunds are recorded as actions, not sent to a reservation system. The data pack has no inventory to book against.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34290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D3A5C"/>
          </a:solidFill>
          <a:ln w="9525">
            <a:solidFill>
              <a:srgbClr val="2E5C8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42416" y="3557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would not ship yet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42416" y="3886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identity verification, multi-PNR households, partial refunds, and a supervisor queue that writes its decision back into the same case record.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3429000"/>
            <a:ext cx="5029200" cy="1371600"/>
          </a:xfrm>
          <a:prstGeom prst="roundRect">
            <a:avLst>
              <a:gd name="adj" fmla="val 4000"/>
            </a:avLst>
          </a:prstGeom>
          <a:solidFill>
            <a:srgbClr val="1D3A5C"/>
          </a:solidFill>
          <a:ln w="9525">
            <a:solidFill>
              <a:srgbClr val="2E5C8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35570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one-week version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388620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grounding object for a policy service, put the rule matrix behind a versioned config so ops can change a ceiling without a deploy, and log every verdict for audit sampling.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257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5532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claude.ai/artifact/RT18MmsrxxbhbwHrZ5Fxh6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C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and demo video links in the submission form.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5532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Tamanna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2026-09-17T09:51:03Z</dcterms:created>
  <dcterms:modified xsi:type="dcterms:W3CDTF">2026-09-17T09:51:03Z</dcterms:modified>
</cp:coreProperties>
</file>